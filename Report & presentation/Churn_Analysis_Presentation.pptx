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4A3B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94A3B8"/>
                </a:solidFill>
                <a:latin typeface="Arial"/>
              </a:rPr>
              <a:t>Feature Importance (Logistic Regression Coefficients)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24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E2E8F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transactions</c:v>
                </c:pt>
                <c:pt idx="1">
                  <c:v>total_products</c:v>
                </c:pt>
                <c:pt idx="2">
                  <c:v>frequency</c:v>
                </c:pt>
                <c:pt idx="3">
                  <c:v>aov</c:v>
                </c:pt>
                <c:pt idx="4">
                  <c:v>revenue</c:v>
                </c:pt>
                <c:pt idx="5">
                  <c:v>unique_products</c:v>
                </c:pt>
                <c:pt idx="6">
                  <c:v>total_days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-0.05</c:v>
                </c:pt>
                <c:pt idx="1">
                  <c:v>0.1</c:v>
                </c:pt>
                <c:pt idx="2">
                  <c:v>0.2</c:v>
                </c:pt>
                <c:pt idx="3">
                  <c:v>-0.1</c:v>
                </c:pt>
                <c:pt idx="4">
                  <c:v>-0.1</c:v>
                </c:pt>
                <c:pt idx="5">
                  <c:v>-0.4</c:v>
                </c:pt>
                <c:pt idx="6">
                  <c:v>-1.2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FA-487C-B328-3B6446B82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2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52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5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723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bdu1manna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57200" cy="6309360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777240" y="14630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Customer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kern="0" spc="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Analysis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6400800" cy="2286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77240" y="34015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Abdu1mannan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9326880" y="1554480"/>
            <a:ext cx="246888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9418320" y="16276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4183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326880" y="2788920"/>
            <a:ext cx="246888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9418320" y="28620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941832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0" y="4023360"/>
            <a:ext cx="2468880" cy="100584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9418320" y="40965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418320" y="4663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882396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8823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Dataset Profile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394960" cy="539496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493776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business loses nearly half its customers within a two-year window. The project identifies which customers churn, why they churn, and which active customers are at highest risk of lapsing. The output informs a tiered retention strategy.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Definition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017520"/>
            <a:ext cx="49377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is classified as churned if no transaction was recorded in the four months before the cutoff date of August 9, 2011.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Toolchain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4864" cy="50292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713232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4416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and aggregation across 1M+ rows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4864" cy="50292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713232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" y="5102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segmentation, logistic regression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54864" cy="50292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713232" y="5532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3232" y="57881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Three-page interactive dashboard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5040" y="1170432"/>
            <a:ext cx="2971800" cy="9601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6126480" y="1225296"/>
            <a:ext cx="2788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26480" y="1746504"/>
            <a:ext cx="2788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71432" y="1170432"/>
            <a:ext cx="2971800" cy="9601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9262872" y="1225296"/>
            <a:ext cx="2788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5,942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62872" y="1746504"/>
            <a:ext cx="2788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2295144"/>
            <a:ext cx="2971800" cy="9601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126480" y="2350008"/>
            <a:ext cx="2788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26480" y="2871216"/>
            <a:ext cx="2788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Start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171432" y="2295144"/>
            <a:ext cx="2971800" cy="9601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9262872" y="2350008"/>
            <a:ext cx="2788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2011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262872" y="2871216"/>
            <a:ext cx="2788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End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3419856"/>
            <a:ext cx="2971800" cy="9601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126480" y="3474720"/>
            <a:ext cx="2788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243K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126480" y="3995928"/>
            <a:ext cx="2788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IDs Excluded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71432" y="3419856"/>
            <a:ext cx="2971800" cy="9601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9262872" y="3474720"/>
            <a:ext cx="278892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262872" y="3995928"/>
            <a:ext cx="278892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Inactivity Threshold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4315968"/>
            <a:ext cx="6035040" cy="45720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6126480" y="4334256"/>
            <a:ext cx="5852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unit prices removed. Returns retained as net quantity adjustments.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229868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229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Pipeline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2560320" cy="3474720"/>
          </a:xfrm>
          <a:prstGeom prst="rect">
            <a:avLst/>
          </a:prstGeom>
          <a:solidFill>
            <a:srgbClr val="1A3F80"/>
          </a:solidFill>
          <a:ln w="12700">
            <a:solidFill>
              <a:srgbClr val="24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2560320" cy="54864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713232" y="152704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Raw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" y="19476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1,067,371 transactions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13232" y="2313432"/>
            <a:ext cx="2231136" cy="10973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713232" y="246888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UK-based online retailer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3232" y="294436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2009 to Dec 2011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" y="341985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45536" y="3063240"/>
            <a:ext cx="274320" cy="0"/>
          </a:xfrm>
          <a:prstGeom prst="line">
            <a:avLst/>
          </a:prstGeom>
          <a:noFill/>
          <a:ln w="1905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200400" y="28803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456432" y="1325880"/>
            <a:ext cx="2560320" cy="3474720"/>
          </a:xfrm>
          <a:prstGeom prst="rect">
            <a:avLst/>
          </a:prstGeom>
          <a:solidFill>
            <a:srgbClr val="1A3F80"/>
          </a:solidFill>
          <a:ln w="12700">
            <a:solidFill>
              <a:srgbClr val="24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456432" y="1325880"/>
            <a:ext cx="2560320" cy="54864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3621024" y="152704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21024" y="19476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21024" y="2313432"/>
            <a:ext cx="2231136" cy="10973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3621024" y="246888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ID exclusion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21024" y="294436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price removal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21024" y="341985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 per customer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3063240"/>
            <a:ext cx="274320" cy="0"/>
          </a:xfrm>
          <a:prstGeom prst="line">
            <a:avLst/>
          </a:prstGeom>
          <a:noFill/>
          <a:ln w="1905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6108192" y="28803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64224" y="1325880"/>
            <a:ext cx="2560320" cy="3474720"/>
          </a:xfrm>
          <a:prstGeom prst="rect">
            <a:avLst/>
          </a:prstGeom>
          <a:solidFill>
            <a:srgbClr val="163266"/>
          </a:solidFill>
          <a:ln w="12700">
            <a:solidFill>
              <a:srgbClr val="24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364224" y="1325880"/>
            <a:ext cx="2560320" cy="54864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6528816" y="152704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Python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28816" y="19476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+ Modeling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28816" y="2313432"/>
            <a:ext cx="2231136" cy="10973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6528816" y="246888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28816" y="294436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(RFM tiers)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528816" y="341985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61120" y="3063240"/>
            <a:ext cx="274320" cy="0"/>
          </a:xfrm>
          <a:prstGeom prst="line">
            <a:avLst/>
          </a:prstGeom>
          <a:noFill/>
          <a:ln w="1905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9015984" y="288036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4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272016" y="1325880"/>
            <a:ext cx="2560320" cy="3474720"/>
          </a:xfrm>
          <a:prstGeom prst="rect">
            <a:avLst/>
          </a:prstGeom>
          <a:solidFill>
            <a:srgbClr val="0F2450"/>
          </a:solidFill>
          <a:ln w="12700">
            <a:solidFill>
              <a:srgbClr val="24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38" name="Shape 36"/>
          <p:cNvSpPr/>
          <p:nvPr/>
        </p:nvSpPr>
        <p:spPr>
          <a:xfrm>
            <a:off x="9272016" y="1325880"/>
            <a:ext cx="2560320" cy="54864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9436608" y="152704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Power BI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436608" y="194767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436608" y="2313432"/>
            <a:ext cx="2231136" cy="10973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9436608" y="246888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436608" y="294436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436608" y="341985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1050" dirty="0"/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6122FE0C-11C6-7A8A-DB6A-B46CDA770B34}"/>
              </a:ext>
            </a:extLst>
          </p:cNvPr>
          <p:cNvSpPr/>
          <p:nvPr/>
        </p:nvSpPr>
        <p:spPr>
          <a:xfrm>
            <a:off x="713232" y="3326753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5,942 Customers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2011680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Distributions: Active vs. Churned Customers (Python EDA)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1124712"/>
            <a:ext cx="11612880" cy="525780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8" name="Image 0" descr="/mnt/user-data/uploads/Online_Retail_churn_ed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70432"/>
            <a:ext cx="11521440" cy="5166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644652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Green: Active   |   Red: Churned   |   Generated in Python (matplotlib)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229868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2298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14884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96596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5,942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782714"/>
            <a:ext cx="19659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42616" y="1188720"/>
            <a:ext cx="214884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2734056" y="1261872"/>
            <a:ext cx="196596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2,782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34056" y="1782714"/>
            <a:ext cx="19659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5192" y="1188720"/>
            <a:ext cx="214884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5056632" y="1261872"/>
            <a:ext cx="196596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3,160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56632" y="1782714"/>
            <a:ext cx="19659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87768" y="1188720"/>
            <a:ext cx="214884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7379208" y="1261872"/>
            <a:ext cx="196596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46.82%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379208" y="1782714"/>
            <a:ext cx="19659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610344" y="1188720"/>
            <a:ext cx="214884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9701784" y="1261872"/>
            <a:ext cx="196596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$13.08M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701784" y="1782714"/>
            <a:ext cx="196596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(24 mo)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468880"/>
            <a:ext cx="5120640" cy="411480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48640" y="26060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Impact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2971800"/>
            <a:ext cx="46634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46.82% of customers churned. Despite this, churned customers account for only 19.18% of total revenue. The gap is structural: customers who leave are disproportionately from the lowest revenue and lowest frequency segments.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636008"/>
            <a:ext cx="4663440" cy="1828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churn problem is volume-heavy, not value-heavy.</a:t>
            </a:r>
            <a:endParaRPr lang="en-US" sz="11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and Frequent buyers show strong retention.</a:t>
            </a:r>
            <a:endParaRPr lang="en-US" sz="11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$159.91K in active-customer revenue is at risk from customers with churn probability above 70%.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23560" y="2423160"/>
            <a:ext cx="6583680" cy="420624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8" name="Image 0" descr="/mnt/user-data/uploads/revenue_churnvsstay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2468880"/>
            <a:ext cx="6492240" cy="4114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664208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Concentration by Revenue and Frequency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1124712"/>
            <a:ext cx="6217920" cy="411480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8" name="Image 0" descr="/mnt/user-data/uploads/rev_freq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170432"/>
            <a:ext cx="612648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1170432"/>
            <a:ext cx="5166360" cy="11887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6675120" y="1170432"/>
            <a:ext cx="54864" cy="118872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6858000" y="1261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1,015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858000" y="17190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| Rare churned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0" y="20116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 of all churn in a single cell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675120" y="2542032"/>
            <a:ext cx="5166360" cy="11887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2"/>
          <p:cNvSpPr/>
          <p:nvPr/>
        </p:nvSpPr>
        <p:spPr>
          <a:xfrm>
            <a:off x="6675120" y="2542032"/>
            <a:ext cx="54864" cy="118872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3"/>
          <p:cNvSpPr/>
          <p:nvPr/>
        </p:nvSpPr>
        <p:spPr>
          <a:xfrm>
            <a:off x="685800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858000" y="3090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| Rare churned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858000" y="33832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concentration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675120" y="3913632"/>
            <a:ext cx="5166360" cy="118872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7"/>
          <p:cNvSpPr/>
          <p:nvPr/>
        </p:nvSpPr>
        <p:spPr>
          <a:xfrm>
            <a:off x="6675120" y="3913632"/>
            <a:ext cx="54864" cy="118872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6858000" y="4005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1,650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6858000" y="44622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Rare churners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858000" y="47548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59.3% of all churn is Rare-frequency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5376672"/>
            <a:ext cx="11521440" cy="1170432"/>
          </a:xfrm>
          <a:prstGeom prst="rect">
            <a:avLst/>
          </a:prstGeom>
          <a:solidFill>
            <a:srgbClr val="0D1626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2"/>
          <p:cNvSpPr/>
          <p:nvPr/>
        </p:nvSpPr>
        <p:spPr>
          <a:xfrm>
            <a:off x="548640" y="5468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5779008"/>
            <a:ext cx="110642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not evenly distributed. Two cells (Low|Rare and Medium|Rare) account for 54.5% of all churned customers. Frequent buyers across all revenue segments show the lowest churn rates. Retention spend should be concentrated here, not spread uniformly.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664208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1124712"/>
            <a:ext cx="6035040" cy="374904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8" name="Image 0" descr="/mnt/user-data/uploads/country_chur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70432"/>
            <a:ext cx="6991004" cy="54772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84780" y="1124712"/>
            <a:ext cx="4631020" cy="5477256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47BB74E-6ECF-ED3F-6C77-F13773592F3E}"/>
              </a:ext>
            </a:extLst>
          </p:cNvPr>
          <p:cNvSpPr/>
          <p:nvPr/>
        </p:nvSpPr>
        <p:spPr>
          <a:xfrm>
            <a:off x="7437120" y="1170432"/>
            <a:ext cx="4541520" cy="4415721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represents ~75% of all customers. Aggregate findings reflect UK behavior.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Non-UK churn rates are directionally useful but statistically weak given sample sizes.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at 41.46% is the only non-UK market with a comparably high churn rate.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664208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Setup and Feature Importance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5029200" cy="5394960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4754880" cy="475488"/>
          </a:xfrm>
          <a:prstGeom prst="rect">
            <a:avLst/>
          </a:prstGeom>
          <a:solidFill>
            <a:srgbClr val="0F1828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566928" y="175564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7556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4754880" cy="475488"/>
          </a:xfrm>
          <a:prstGeom prst="rect">
            <a:avLst/>
          </a:prstGeom>
          <a:solidFill>
            <a:srgbClr val="121E3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66928" y="230428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30428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/ 20%, stratified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4754880" cy="475488"/>
          </a:xfrm>
          <a:prstGeom prst="rect">
            <a:avLst/>
          </a:prstGeom>
          <a:solidFill>
            <a:srgbClr val="0F1828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85292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4754880" cy="475488"/>
          </a:xfrm>
          <a:prstGeom prst="rect">
            <a:avLst/>
          </a:prstGeom>
          <a:solidFill>
            <a:srgbClr val="121E3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34015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(days inactive excluded)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4754880" cy="475488"/>
          </a:xfrm>
          <a:prstGeom prst="rect">
            <a:avLst/>
          </a:prstGeom>
          <a:solidFill>
            <a:srgbClr val="0F1828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566928" y="39502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68880" y="39502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90288"/>
            <a:ext cx="4754880" cy="914400"/>
          </a:xfrm>
          <a:prstGeom prst="rect">
            <a:avLst/>
          </a:prstGeom>
          <a:solidFill>
            <a:srgbClr val="2D1515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94360" y="46634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Correction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4360" y="4937760"/>
            <a:ext cx="44805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initial model included days </a:t>
            </a:r>
            <a:r>
              <a:rPr lang="en-US" sz="10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nactive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(98% accuracy). This feature is derived directly from the churn label, making the result circular(data leakage). It was removed. The revised model uses behavioral features only.</a:t>
            </a:r>
            <a:endParaRPr lang="en-US" sz="100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5577840" y="1170432"/>
          <a:ext cx="6309360" cy="5394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Text 25"/>
          <p:cNvSpPr/>
          <p:nvPr/>
        </p:nvSpPr>
        <p:spPr>
          <a:xfrm>
            <a:off x="5577840" y="651052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protective (reduces churn risk)    Positive = risk factor (increases churn risk)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403604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4036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Scoring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269748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25146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34.14%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1782714"/>
            <a:ext cx="251460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Churn Probability (Active)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5264" y="1188720"/>
            <a:ext cx="269748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346704" y="1261872"/>
            <a:ext cx="25146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46704" y="1782714"/>
            <a:ext cx="251460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Critical Risk Customers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90488" y="1188720"/>
            <a:ext cx="269748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281928" y="1261872"/>
            <a:ext cx="25146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$204.75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81928" y="1782714"/>
            <a:ext cx="251460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Revenue: High-Risk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25712" y="1188720"/>
            <a:ext cx="2697480" cy="102412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9217152" y="1261872"/>
            <a:ext cx="2514600" cy="5632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$159.91K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17152" y="1782714"/>
            <a:ext cx="2514600" cy="389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at Risk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350008"/>
            <a:ext cx="6949440" cy="425196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0" name="Image 0" descr="/mnt/user-data/uploads/rev_frq_scatt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2395728"/>
            <a:ext cx="6858000" cy="4160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7360920" y="2350008"/>
            <a:ext cx="4754880" cy="2194560"/>
          </a:xfrm>
          <a:prstGeom prst="rect">
            <a:avLst/>
          </a:prstGeom>
          <a:solidFill>
            <a:srgbClr val="141C2A"/>
          </a:solidFill>
          <a:ln w="12700">
            <a:solidFill>
              <a:srgbClr val="1A3F80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pic>
        <p:nvPicPr>
          <p:cNvPr id="22" name="Image 1" descr="/mnt/user-data/uploads/highrisk_custom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6640" y="2395728"/>
            <a:ext cx="4663440" cy="21031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7406640" y="4663440"/>
            <a:ext cx="4663440" cy="1892808"/>
          </a:xfrm>
          <a:prstGeom prst="rect">
            <a:avLst/>
          </a:prstGeom>
          <a:solidFill>
            <a:srgbClr val="0F152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0"/>
          <p:cNvSpPr/>
          <p:nvPr/>
        </p:nvSpPr>
        <p:spPr>
          <a:xfrm>
            <a:off x="7543800" y="4754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Interpretation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7543800" y="5074920"/>
            <a:ext cx="438912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customers cluster at high churn probability and low revenue: maximum risk, minimum value.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buyers (purple) sit at low probability across the full revenue range.</a:t>
            </a:r>
            <a:endParaRPr lang="en-US" sz="10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inverse curve confirms revenue is protective even controlling for frequency.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1577340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15773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Strategy by Segment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5440680" cy="2011680"/>
          </a:xfrm>
          <a:prstGeom prst="rect">
            <a:avLst/>
          </a:prstGeom>
          <a:solidFill>
            <a:srgbClr val="1A2F50"/>
          </a:solidFill>
          <a:ln w="12700">
            <a:solidFill>
              <a:srgbClr val="24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5440680" cy="50292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57200" y="13441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| Rare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13716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Volume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84248"/>
            <a:ext cx="516636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reactivation with minimum order discount. No account management resources. Cost of retention must stay below customer value.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61888" y="1234440"/>
            <a:ext cx="5440680" cy="2011680"/>
          </a:xfrm>
          <a:prstGeom prst="rect">
            <a:avLst/>
          </a:prstGeom>
          <a:solidFill>
            <a:srgbClr val="162844"/>
          </a:solidFill>
          <a:ln w="12700">
            <a:solidFill>
              <a:srgbClr val="2463EB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5961888" y="1234440"/>
            <a:ext cx="5440680" cy="50292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6099048" y="134416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| Rare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9048" y="1655064"/>
            <a:ext cx="13716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Second-Largest Pool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099048" y="1984248"/>
            <a:ext cx="516636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Category-targeted promotions based on purchase history. Priority: increase transaction frequency before revenue growth.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447288"/>
            <a:ext cx="5440680" cy="2011680"/>
          </a:xfrm>
          <a:prstGeom prst="rect">
            <a:avLst/>
          </a:prstGeom>
          <a:solidFill>
            <a:srgbClr val="2D1515"/>
          </a:solidFill>
          <a:ln w="12700">
            <a:solidFill>
              <a:srgbClr val="E53E3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320040" y="3447288"/>
            <a:ext cx="544068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457200" y="355701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Active (prob &gt; 0.70)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67912"/>
            <a:ext cx="13716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197096"/>
            <a:ext cx="516636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high-risk table from dashboard. Outbound retention campaign within 30 days. Focus on customers with revenue above $500.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61888" y="3447288"/>
            <a:ext cx="5440680" cy="2011680"/>
          </a:xfrm>
          <a:prstGeom prst="rect">
            <a:avLst/>
          </a:prstGeom>
          <a:solidFill>
            <a:srgbClr val="0D2010"/>
          </a:solidFill>
          <a:ln w="12700">
            <a:solidFill>
              <a:srgbClr val="22C55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3" name="Shape 21"/>
          <p:cNvSpPr/>
          <p:nvPr/>
        </p:nvSpPr>
        <p:spPr>
          <a:xfrm>
            <a:off x="5961888" y="3447288"/>
            <a:ext cx="544068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6099048" y="355701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| Premium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99048" y="3867912"/>
            <a:ext cx="13716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099048" y="4197096"/>
            <a:ext cx="5166360" cy="11704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active intervention required. Monitor for anomalous inactivity. Maintain fulfillment quality.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463EB"/>
          </a:solidFill>
          <a:ln w="12700">
            <a:solidFill>
              <a:srgbClr val="2463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20040" y="256032"/>
            <a:ext cx="2359152" cy="201168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320040" y="256032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9848"/>
            <a:ext cx="11521440" cy="10973"/>
          </a:xfrm>
          <a:prstGeom prst="rect">
            <a:avLst/>
          </a:prstGeom>
          <a:solidFill>
            <a:srgbClr val="1A3F80"/>
          </a:solidFill>
          <a:ln w="12700">
            <a:solidFill>
              <a:srgbClr val="1A3F8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320039" y="1170432"/>
            <a:ext cx="11521439" cy="5394960"/>
          </a:xfrm>
          <a:prstGeom prst="rect">
            <a:avLst/>
          </a:prstGeom>
          <a:solidFill>
            <a:srgbClr val="0F1520"/>
          </a:solidFill>
          <a:ln w="12700">
            <a:solidFill>
              <a:srgbClr val="E53E3E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39" y="1691640"/>
            <a:ext cx="8068887" cy="4663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frequency is algebraically derived from total days and transactions. Coefficient magnitudes are unreliable; directions are not.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demographic data: acquisition channel, price sensitivity, and returns experience are absent from the model.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dominance: 75% UK customers means non-UK segment findings cannot be generalised.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threshold: a fixed 4-month cutoff misclassifies seasonal buyers as churned.</a:t>
            </a:r>
            <a:endParaRPr lang="en-US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ceiling: logistic regression at 71% cannot capture non-linear churn dynamics.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855</Words>
  <Application>Microsoft Office PowerPoint</Application>
  <PresentationFormat>Widescreen</PresentationFormat>
  <Paragraphs>163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Retail Customer Churn Analysis</dc:title>
  <dc:subject>PptxGenJS Presentation</dc:subject>
  <dc:creator>Abdul Mannan</dc:creator>
  <cp:lastModifiedBy>Abdul Mannan</cp:lastModifiedBy>
  <cp:revision>2</cp:revision>
  <dcterms:created xsi:type="dcterms:W3CDTF">2026-05-10T11:29:13Z</dcterms:created>
  <dcterms:modified xsi:type="dcterms:W3CDTF">2026-05-10T12:02:16Z</dcterms:modified>
</cp:coreProperties>
</file>